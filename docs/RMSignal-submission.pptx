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72" r:id="rId2"/>
    <p:sldId id="258" r:id="rId3"/>
    <p:sldId id="259" r:id="rId4"/>
    <p:sldId id="260" r:id="rId5"/>
    <p:sldId id="261" r:id="rId6"/>
    <p:sldId id="263" r:id="rId7"/>
    <p:sldId id="264" r:id="rId8"/>
    <p:sldId id="266" r:id="rId9"/>
    <p:sldId id="267" r:id="rId10"/>
    <p:sldId id="268" r:id="rId11"/>
    <p:sldId id="269" r:id="rId12"/>
    <p:sldId id="271" r:id="rId13"/>
  </p:sldIdLst>
  <p:sldSz cx="9144000" cy="5143500" type="screen16x9"/>
  <p:notesSz cx="6858000" cy="9144000"/>
  <p:embeddedFontLst>
    <p:embeddedFont>
      <p:font typeface="Google Sans Flex" panose="020B0503030502040204"/>
      <p:regular r:id="rId15"/>
      <p:bold r:id="rId16"/>
    </p:embeddedFont>
    <p:embeddedFont>
      <p:font typeface="Google Sans Flex Medium" panose="020B0503030502040204"/>
      <p:regular r:id="rId17"/>
      <p:bold r:id="rId18"/>
    </p:embeddedFont>
    <p:embeddedFont>
      <p:font typeface="Google Sans Flex SemiBold" panose="020B0503030502040204" pitchFamily="34" charset="0"/>
      <p:regular r:id="rId19"/>
      <p:bold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FECCF51-7547-2BAF-B7D8-40CB68956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0F912F7-7B36-A641-A736-40C8F1DB08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1F46B64-8EE8-50DE-9826-1813F314C9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63939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rm-dashboard-spa-820913152799.asia-southeast3.run.app/" TargetMode="External"/><Relationship Id="rId5" Type="http://schemas.openxmlformats.org/officeDocument/2006/relationships/hyperlink" Target="https://github.com/webmobix/rmsignal" TargetMode="Externa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A840C03-2580-1AB5-F0E7-A7B15C82F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788A2823-C714-5AD8-3474-BF8F122D3D46}"/>
              </a:ext>
            </a:extLst>
          </p:cNvPr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 dirty="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</a:t>
            </a:r>
            <a:r>
              <a:rPr lang="en-GB" sz="2100" dirty="0" err="1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Webmobix</a:t>
            </a:r>
            <a:r>
              <a:rPr lang="en-GB" sz="2100" dirty="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 - </a:t>
            </a:r>
            <a:r>
              <a:rPr lang="en-GB" sz="2100" dirty="0" err="1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RMSignal</a:t>
            </a:r>
            <a:endParaRPr lang="en-GB" sz="2100" dirty="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sz="2100" dirty="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latin typeface="Google Sans Flex"/>
                <a:ea typeface="Google Sans Flex"/>
                <a:cs typeface="Google Sans Flex"/>
                <a:sym typeface="Google Sans Flex"/>
              </a:rPr>
              <a:t>Wealth Management Intelligence.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latin typeface="Google Sans Flex"/>
                <a:ea typeface="Google Sans Flex"/>
                <a:cs typeface="Google Sans Flex"/>
                <a:sym typeface="Google Sans Flex"/>
              </a:rPr>
              <a:t>Move from portfolio monitoring to proactive, explainable advice for Relationship Managers.</a:t>
            </a:r>
          </a:p>
          <a:p>
            <a:endParaRPr lang="en-GB" sz="18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>
            <a:extLst>
              <a:ext uri="{FF2B5EF4-FFF2-40B4-BE49-F238E27FC236}">
                <a16:creationId xmlns:a16="http://schemas.microsoft.com/office/drawing/2014/main" id="{B4719D5C-FEEF-A251-980F-EB75A76A482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>
            <a:extLst>
              <a:ext uri="{FF2B5EF4-FFF2-40B4-BE49-F238E27FC236}">
                <a16:creationId xmlns:a16="http://schemas.microsoft.com/office/drawing/2014/main" id="{6C1C05C8-FE43-79AA-B555-8C451C8BE19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827579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Title"/>
          <p:cNvSpPr txBox="1"/>
          <p:nvPr/>
        </p:nvSpPr>
        <p:spPr>
          <a:xfrm>
            <a:off x="265176" y="663854"/>
            <a:ext cx="894283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40" tIns="45720" rIns="91440" bIns="45720" anchor="t" anchorCtr="0">
            <a:noAutofit/>
          </a:bodyPr>
          <a:lstStyle/>
          <a:p>
            <a:pPr marL="0" indent="0" algn="l">
              <a:buNone/>
            </a:pPr>
            <a:r>
              <a:rPr lang="en-GB" sz="1600" dirty="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Brief about the idea</a:t>
            </a:r>
          </a:p>
        </p:txBody>
      </p:sp>
      <p:sp>
        <p:nvSpPr>
          <p:cNvPr id="301" name="Brief text"/>
          <p:cNvSpPr txBox="1"/>
          <p:nvPr/>
        </p:nvSpPr>
        <p:spPr>
          <a:xfrm>
            <a:off x="356616" y="1097280"/>
            <a:ext cx="7435662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problem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Relationship Manager (RM) has 20 clients and USD 596m to look after. Today's tools show numbers. They do not say who to call first or why.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</a:t>
            </a:r>
            <a:r>
              <a:rPr lang="en-GB" sz="1400" b="1" dirty="0" err="1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RMSignal</a:t>
            </a:r>
            <a:r>
              <a:rPr lang="en-GB" sz="140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does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It reads portfolios, mandates, market events and the RM's own notes. It gives back a ranked list of next actions: who to call, what to say and the proof behind it.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Who stays in charge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RM. She can inspect, question and overrule everything. The AI suggests. She decides.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-GB" sz="1300" dirty="0">
              <a:solidFill>
                <a:srgbClr val="1F1F1F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-GB" sz="1300" dirty="0">
              <a:solidFill>
                <a:srgbClr val="1F1F1F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r>
              <a:rPr lang="en-US" b="1" dirty="0" err="1"/>
              <a:t>RMSignal</a:t>
            </a:r>
            <a:r>
              <a:rPr lang="en-US" b="1" dirty="0"/>
              <a:t> turns portfolio data into a short, ranked, explained to-do list, so the Relationship Manager knows who to call first, what to say, and why, with the proof one click away.</a:t>
            </a:r>
            <a:endParaRPr lang="en-GB" sz="1300" dirty="0">
              <a:solidFill>
                <a:srgbClr val="1F1F1F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Title"/>
          <p:cNvSpPr txBox="1"/>
          <p:nvPr/>
        </p:nvSpPr>
        <p:spPr>
          <a:xfrm>
            <a:off x="265176" y="663854"/>
            <a:ext cx="894283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40" tIns="45720" rIns="91440" bIns="45720" anchor="t" anchorCtr="0">
            <a:noAutofit/>
          </a:bodyPr>
          <a:lstStyle/>
          <a:p>
            <a:pPr marL="0" indent="0" algn="l">
              <a:buNone/>
            </a:pPr>
            <a:r>
              <a:rPr lang="en-GB" sz="1600" dirty="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</a:p>
        </p:txBody>
      </p:sp>
      <p:sp>
        <p:nvSpPr>
          <p:cNvPr id="306" name="Card 1"/>
          <p:cNvSpPr/>
          <p:nvPr/>
        </p:nvSpPr>
        <p:spPr>
          <a:xfrm>
            <a:off x="356616" y="1097280"/>
            <a:ext cx="2743200" cy="36576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46304" tIns="128016" rIns="146304" bIns="9144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400" b="1" dirty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is it different?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Most tools describe one portfolio. RMSignal ranks actions across the whole book.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It looks across a client's portfolios and inside structured products.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It reads the RM's own notes and flags where they disagree with the data.</a:t>
            </a:r>
          </a:p>
        </p:txBody>
      </p:sp>
      <p:sp>
        <p:nvSpPr>
          <p:cNvPr id="307" name="Card 2"/>
          <p:cNvSpPr/>
          <p:nvPr/>
        </p:nvSpPr>
        <p:spPr>
          <a:xfrm>
            <a:off x="3291840" y="1097280"/>
            <a:ext cx="2743200" cy="36576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46304" tIns="128016" rIns="146304" bIns="9144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400" b="1" dirty="0">
                <a:solidFill>
                  <a:srgbClr val="18803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does it solve the problem?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Code finds mandate breaches, concentration, cash gaps, loan limits and overdue KYC.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Actions are ranked by importance and timing, so the RM knows who to call first.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Three scenarios show best, likely and worst cases for each client.</a:t>
            </a:r>
          </a:p>
        </p:txBody>
      </p:sp>
      <p:sp>
        <p:nvSpPr>
          <p:cNvPr id="308" name="Card 3"/>
          <p:cNvSpPr/>
          <p:nvPr/>
        </p:nvSpPr>
        <p:spPr>
          <a:xfrm>
            <a:off x="6227064" y="1097280"/>
            <a:ext cx="2743200" cy="36576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46304" tIns="128016" rIns="146304" bIns="9144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400" b="1" dirty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is the USP?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Explainable: one click from any claim to its source data.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Safe: the AI never does the maths, and code deletes any claim whose numbers are not in the evidence.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Honest: every report lists what could not be checked.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Title"/>
          <p:cNvSpPr txBox="1"/>
          <p:nvPr/>
        </p:nvSpPr>
        <p:spPr>
          <a:xfrm>
            <a:off x="265176" y="663854"/>
            <a:ext cx="894283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40" tIns="45720" rIns="91440" bIns="45720" anchor="t" anchorCtr="0">
            <a:noAutofit/>
          </a:bodyPr>
          <a:lstStyle/>
          <a:p>
            <a:pPr marL="0" indent="0" algn="l">
              <a:buNone/>
            </a:pPr>
            <a:r>
              <a:rPr lang="en-GB" sz="1600" dirty="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List of features offered by the solution</a:t>
            </a:r>
          </a:p>
        </p:txBody>
      </p:sp>
      <p:sp>
        <p:nvSpPr>
          <p:cNvPr id="310" name="Feature 1"/>
          <p:cNvSpPr/>
          <p:nvPr/>
        </p:nvSpPr>
        <p:spPr>
          <a:xfrm>
            <a:off x="356616" y="10972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37160" tIns="118872" rIns="118872" bIns="73152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GB" sz="1300" b="1" dirty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Ranked action list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action for every client, sorted by importance and timing. A written summary says who to call first.</a:t>
            </a:r>
          </a:p>
        </p:txBody>
      </p:sp>
      <p:sp>
        <p:nvSpPr>
          <p:cNvPr id="311" name="Feature 2"/>
          <p:cNvSpPr/>
          <p:nvPr/>
        </p:nvSpPr>
        <p:spPr>
          <a:xfrm>
            <a:off x="2551176" y="10972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37160" tIns="118872" rIns="118872" bIns="73152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GB" sz="1300" b="1" dirty="0">
                <a:solidFill>
                  <a:srgbClr val="18803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Client view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All portfolios together: allocation, currencies, biggest positions and what structured products really hold.</a:t>
            </a:r>
          </a:p>
        </p:txBody>
      </p:sp>
      <p:sp>
        <p:nvSpPr>
          <p:cNvPr id="312" name="Feature 3"/>
          <p:cNvSpPr/>
          <p:nvPr/>
        </p:nvSpPr>
        <p:spPr>
          <a:xfrm>
            <a:off x="4745736" y="10972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37160" tIns="118872" rIns="118872" bIns="73152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GB" sz="1300" b="1" dirty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Notes against data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Each RM note is checked: consistent, contradicted or cannot be verified.</a:t>
            </a:r>
          </a:p>
        </p:txBody>
      </p:sp>
      <p:sp>
        <p:nvSpPr>
          <p:cNvPr id="313" name="Feature 4"/>
          <p:cNvSpPr/>
          <p:nvPr/>
        </p:nvSpPr>
        <p:spPr>
          <a:xfrm>
            <a:off x="6940296" y="10972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37160" tIns="118872" rIns="118872" bIns="73152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GB" sz="1300" b="1" dirty="0">
                <a:solidFill>
                  <a:srgbClr val="7B3FE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Mandate breaches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Code finds the breach. Notes say if it is acknowledged, client-directed or contradicted. A waiver never hides it.</a:t>
            </a:r>
          </a:p>
        </p:txBody>
      </p:sp>
      <p:sp>
        <p:nvSpPr>
          <p:cNvPr id="314" name="Feature 5"/>
          <p:cNvSpPr/>
          <p:nvPr/>
        </p:nvSpPr>
        <p:spPr>
          <a:xfrm>
            <a:off x="356616" y="310896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37160" tIns="118872" rIns="118872" bIns="73152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GB" sz="1300" b="1" dirty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 and credit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Liquid assets against planned spending, loan-to-value against limits, KYC review dates.</a:t>
            </a:r>
          </a:p>
        </p:txBody>
      </p:sp>
      <p:sp>
        <p:nvSpPr>
          <p:cNvPr id="315" name="Feature 6"/>
          <p:cNvSpPr/>
          <p:nvPr/>
        </p:nvSpPr>
        <p:spPr>
          <a:xfrm>
            <a:off x="2551176" y="310896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37160" tIns="118872" rIns="118872" bIns="73152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GB" sz="1300" b="1" dirty="0">
                <a:solidFill>
                  <a:srgbClr val="18803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Gulf de-escalation, Gulf deterioration, Rates higher for longer. Best, likely and worst cases.</a:t>
            </a:r>
          </a:p>
        </p:txBody>
      </p:sp>
      <p:sp>
        <p:nvSpPr>
          <p:cNvPr id="316" name="Feature 7"/>
          <p:cNvSpPr/>
          <p:nvPr/>
        </p:nvSpPr>
        <p:spPr>
          <a:xfrm>
            <a:off x="4745736" y="310896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37160" tIns="118872" rIns="118872" bIns="73152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GB" sz="1300" b="1" dirty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Bank views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Market and instrument views, each tied to dated events from the event log.</a:t>
            </a:r>
          </a:p>
        </p:txBody>
      </p:sp>
      <p:sp>
        <p:nvSpPr>
          <p:cNvPr id="317" name="Feature 8"/>
          <p:cNvSpPr/>
          <p:nvPr/>
        </p:nvSpPr>
        <p:spPr>
          <a:xfrm>
            <a:off x="6940296" y="310896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37160" tIns="118872" rIns="118872" bIns="73152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GB" sz="1300" b="1" dirty="0">
                <a:solidFill>
                  <a:srgbClr val="7B3FE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Evidence drawer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Click any claim to see the data, the figures and the note behind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Title"/>
          <p:cNvSpPr txBox="1"/>
          <p:nvPr/>
        </p:nvSpPr>
        <p:spPr>
          <a:xfrm>
            <a:off x="265176" y="663854"/>
            <a:ext cx="894283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40" tIns="45720" rIns="91440" bIns="45720" anchor="t" anchorCtr="0">
            <a:noAutofit/>
          </a:bodyPr>
          <a:lstStyle/>
          <a:p>
            <a:pPr marL="0" indent="0" algn="l">
              <a:buNone/>
            </a:pPr>
            <a:r>
              <a:rPr lang="en-GB" sz="1600" dirty="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Process flow diagram or Use-case diagram</a:t>
            </a:r>
          </a:p>
        </p:txBody>
      </p:sp>
      <p:sp>
        <p:nvSpPr>
          <p:cNvPr id="319" name="Inputs"/>
          <p:cNvSpPr/>
          <p:nvPr/>
        </p:nvSpPr>
        <p:spPr>
          <a:xfrm>
            <a:off x="356616" y="1143000"/>
            <a:ext cx="1920240" cy="13716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</p:spPr>
        <p:txBody>
          <a:bodyPr spcFirstLastPara="1" wrap="square" lIns="128016" tIns="109728" rIns="91440" bIns="73152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5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Inputs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Portfolios, holdings, mandates, credit, cash needs, event log and RM notes, at one chosen date</a:t>
            </a:r>
          </a:p>
        </p:txBody>
      </p:sp>
      <p:sp>
        <p:nvSpPr>
          <p:cNvPr id="320" name="Step 1"/>
          <p:cNvSpPr/>
          <p:nvPr/>
        </p:nvSpPr>
        <p:spPr>
          <a:xfrm>
            <a:off x="2578608" y="1143000"/>
            <a:ext cx="1920240" cy="13716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475488" tIns="109728" rIns="91440" bIns="73152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5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Market and instrument views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AI agent writes the bank's view, citing dated events</a:t>
            </a:r>
          </a:p>
        </p:txBody>
      </p:sp>
      <p:sp>
        <p:nvSpPr>
          <p:cNvPr id="321" name="Step number 1"/>
          <p:cNvSpPr/>
          <p:nvPr/>
        </p:nvSpPr>
        <p:spPr>
          <a:xfrm>
            <a:off x="2688336" y="1271016"/>
            <a:ext cx="292608" cy="292608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</p:txBody>
      </p:sp>
      <p:sp>
        <p:nvSpPr>
          <p:cNvPr id="322" name="Step 2"/>
          <p:cNvSpPr/>
          <p:nvPr/>
        </p:nvSpPr>
        <p:spPr>
          <a:xfrm>
            <a:off x="4800600" y="1143000"/>
            <a:ext cx="1920240" cy="13716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475488" tIns="109728" rIns="91440" bIns="73152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5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Client and portfolio analysis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AI agents study each client; code does every calculation</a:t>
            </a:r>
          </a:p>
        </p:txBody>
      </p:sp>
      <p:sp>
        <p:nvSpPr>
          <p:cNvPr id="323" name="Step number 2"/>
          <p:cNvSpPr/>
          <p:nvPr/>
        </p:nvSpPr>
        <p:spPr>
          <a:xfrm>
            <a:off x="4910328" y="1271016"/>
            <a:ext cx="292608" cy="292608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</p:txBody>
      </p:sp>
      <p:sp>
        <p:nvSpPr>
          <p:cNvPr id="324" name="Step 3"/>
          <p:cNvSpPr/>
          <p:nvPr/>
        </p:nvSpPr>
        <p:spPr>
          <a:xfrm>
            <a:off x="7022592" y="1143000"/>
            <a:ext cx="1920240" cy="13716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475488" tIns="109728" rIns="91440" bIns="73152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5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Check RM notes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AI compares each note with the facts</a:t>
            </a:r>
          </a:p>
        </p:txBody>
      </p:sp>
      <p:sp>
        <p:nvSpPr>
          <p:cNvPr id="325" name="Step number 3"/>
          <p:cNvSpPr/>
          <p:nvPr/>
        </p:nvSpPr>
        <p:spPr>
          <a:xfrm>
            <a:off x="7132320" y="1271016"/>
            <a:ext cx="292608" cy="292608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</p:txBody>
      </p:sp>
      <p:sp>
        <p:nvSpPr>
          <p:cNvPr id="326" name="Step 4"/>
          <p:cNvSpPr/>
          <p:nvPr/>
        </p:nvSpPr>
        <p:spPr>
          <a:xfrm>
            <a:off x="7022592" y="2880360"/>
            <a:ext cx="1920240" cy="13716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475488" tIns="109728" rIns="91440" bIns="73152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5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Check mandate breaches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Code finds the breach; AI reads what notes say</a:t>
            </a:r>
          </a:p>
        </p:txBody>
      </p:sp>
      <p:sp>
        <p:nvSpPr>
          <p:cNvPr id="327" name="Step number 4"/>
          <p:cNvSpPr/>
          <p:nvPr/>
        </p:nvSpPr>
        <p:spPr>
          <a:xfrm>
            <a:off x="7132320" y="3008376"/>
            <a:ext cx="292608" cy="292608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</p:txBody>
      </p:sp>
      <p:sp>
        <p:nvSpPr>
          <p:cNvPr id="328" name="Step 5"/>
          <p:cNvSpPr/>
          <p:nvPr/>
        </p:nvSpPr>
        <p:spPr>
          <a:xfrm>
            <a:off x="4800600" y="2880360"/>
            <a:ext cx="1920240" cy="13716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475488" tIns="109728" rIns="91440" bIns="73152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5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Write actions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AI proposes; code sets importance and timing</a:t>
            </a:r>
          </a:p>
        </p:txBody>
      </p:sp>
      <p:sp>
        <p:nvSpPr>
          <p:cNvPr id="329" name="Step number 5"/>
          <p:cNvSpPr/>
          <p:nvPr/>
        </p:nvSpPr>
        <p:spPr>
          <a:xfrm>
            <a:off x="4910328" y="3008376"/>
            <a:ext cx="292608" cy="292608"/>
          </a:xfrm>
          <a:prstGeom prst="ellipse">
            <a:avLst/>
          </a:prstGeom>
          <a:solidFill>
            <a:srgbClr val="E3740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</p:txBody>
      </p:sp>
      <p:sp>
        <p:nvSpPr>
          <p:cNvPr id="330" name="Step 6"/>
          <p:cNvSpPr/>
          <p:nvPr/>
        </p:nvSpPr>
        <p:spPr>
          <a:xfrm>
            <a:off x="2578608" y="2880360"/>
            <a:ext cx="1920240" cy="13716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475488" tIns="109728" rIns="91440" bIns="73152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5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Rank across the book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Code ranks all actions; AI writes a short summary</a:t>
            </a:r>
          </a:p>
        </p:txBody>
      </p:sp>
      <p:sp>
        <p:nvSpPr>
          <p:cNvPr id="331" name="Step number 6"/>
          <p:cNvSpPr/>
          <p:nvPr/>
        </p:nvSpPr>
        <p:spPr>
          <a:xfrm>
            <a:off x="2688336" y="3008376"/>
            <a:ext cx="292608" cy="292608"/>
          </a:xfrm>
          <a:prstGeom prst="ellipse">
            <a:avLst/>
          </a:prstGeom>
          <a:solidFill>
            <a:srgbClr val="E3740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</p:txBody>
      </p:sp>
      <p:sp>
        <p:nvSpPr>
          <p:cNvPr id="332" name="Step 7"/>
          <p:cNvSpPr/>
          <p:nvPr/>
        </p:nvSpPr>
        <p:spPr>
          <a:xfrm>
            <a:off x="356616" y="2880360"/>
            <a:ext cx="1920240" cy="13716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475488" tIns="109728" rIns="91440" bIns="73152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5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RM reviews and decides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Opens the evidence, then calls the client</a:t>
            </a:r>
          </a:p>
        </p:txBody>
      </p:sp>
      <p:sp>
        <p:nvSpPr>
          <p:cNvPr id="333" name="Step number 7"/>
          <p:cNvSpPr/>
          <p:nvPr/>
        </p:nvSpPr>
        <p:spPr>
          <a:xfrm>
            <a:off x="466344" y="3008376"/>
            <a:ext cx="292608" cy="292608"/>
          </a:xfrm>
          <a:prstGeom prst="ellipse">
            <a:avLst/>
          </a:prstGeom>
          <a:solidFill>
            <a:srgbClr val="7B3FE4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</p:txBody>
      </p:sp>
      <p:cxnSp>
        <p:nvCxnSpPr>
          <p:cNvPr id="334" name="Arrow 1"/>
          <p:cNvCxnSpPr/>
          <p:nvPr/>
        </p:nvCxnSpPr>
        <p:spPr>
          <a:xfrm>
            <a:off x="2295144" y="1828800"/>
            <a:ext cx="2651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</p:cxnSp>
      <p:cxnSp>
        <p:nvCxnSpPr>
          <p:cNvPr id="335" name="Arrow 2"/>
          <p:cNvCxnSpPr/>
          <p:nvPr/>
        </p:nvCxnSpPr>
        <p:spPr>
          <a:xfrm>
            <a:off x="4517136" y="1828800"/>
            <a:ext cx="2651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</p:cxnSp>
      <p:cxnSp>
        <p:nvCxnSpPr>
          <p:cNvPr id="336" name="Arrow 3"/>
          <p:cNvCxnSpPr/>
          <p:nvPr/>
        </p:nvCxnSpPr>
        <p:spPr>
          <a:xfrm>
            <a:off x="6739128" y="1828800"/>
            <a:ext cx="2651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</p:cxnSp>
      <p:cxnSp>
        <p:nvCxnSpPr>
          <p:cNvPr id="337" name="Arrow 4"/>
          <p:cNvCxnSpPr/>
          <p:nvPr/>
        </p:nvCxnSpPr>
        <p:spPr>
          <a:xfrm>
            <a:off x="7982712" y="2532888"/>
            <a:ext cx="0" cy="32004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</p:cxnSp>
      <p:cxnSp>
        <p:nvCxnSpPr>
          <p:cNvPr id="338" name="Arrow 5"/>
          <p:cNvCxnSpPr/>
          <p:nvPr/>
        </p:nvCxnSpPr>
        <p:spPr>
          <a:xfrm flipH="1">
            <a:off x="6739128" y="3566160"/>
            <a:ext cx="2651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</p:cxnSp>
      <p:cxnSp>
        <p:nvCxnSpPr>
          <p:cNvPr id="339" name="Arrow 6"/>
          <p:cNvCxnSpPr/>
          <p:nvPr/>
        </p:nvCxnSpPr>
        <p:spPr>
          <a:xfrm flipH="1">
            <a:off x="4517136" y="3566160"/>
            <a:ext cx="2651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</p:cxnSp>
      <p:cxnSp>
        <p:nvCxnSpPr>
          <p:cNvPr id="340" name="Arrow 7"/>
          <p:cNvCxnSpPr/>
          <p:nvPr/>
        </p:nvCxnSpPr>
        <p:spPr>
          <a:xfrm flipH="1">
            <a:off x="2295144" y="3566160"/>
            <a:ext cx="2651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</p:cxnSp>
      <p:sp>
        <p:nvSpPr>
          <p:cNvPr id="341" name="Flow note"/>
          <p:cNvSpPr txBox="1"/>
          <p:nvPr/>
        </p:nvSpPr>
        <p:spPr>
          <a:xfrm>
            <a:off x="356616" y="4407408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i="1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Each step saves a file and the next step reads it. The same date and the same inputs give the same result.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Title"/>
          <p:cNvSpPr txBox="1"/>
          <p:nvPr/>
        </p:nvSpPr>
        <p:spPr>
          <a:xfrm>
            <a:off x="265176" y="663854"/>
            <a:ext cx="894283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40" tIns="45720" rIns="91440" bIns="45720" anchor="t" anchorCtr="0">
            <a:noAutofit/>
          </a:bodyPr>
          <a:lstStyle/>
          <a:p>
            <a:pPr marL="0" indent="0" algn="l">
              <a:buNone/>
            </a:pPr>
            <a:r>
              <a:rPr lang="en-GB" sz="1600" dirty="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Architecture diagram of the proposed solution</a:t>
            </a:r>
          </a:p>
        </p:txBody>
      </p:sp>
      <p:sp>
        <p:nvSpPr>
          <p:cNvPr id="343" name="Layer 1"/>
          <p:cNvSpPr/>
          <p:nvPr/>
        </p:nvSpPr>
        <p:spPr>
          <a:xfrm>
            <a:off x="356616" y="1143000"/>
            <a:ext cx="1481328" cy="157276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</p:spPr>
        <p:txBody>
          <a:bodyPr spcFirstLastPara="1" wrap="square" lIns="109728" tIns="91440" rIns="91440" bIns="54864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30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Core Banking Systems, 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Events.</a:t>
            </a:r>
          </a:p>
        </p:txBody>
      </p:sp>
      <p:cxnSp>
        <p:nvCxnSpPr>
          <p:cNvPr id="344" name="Layer arrow 1"/>
          <p:cNvCxnSpPr/>
          <p:nvPr/>
        </p:nvCxnSpPr>
        <p:spPr>
          <a:xfrm>
            <a:off x="1856232" y="1929384"/>
            <a:ext cx="2651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</p:cxnSp>
      <p:sp>
        <p:nvSpPr>
          <p:cNvPr id="345" name="Layer 2"/>
          <p:cNvSpPr/>
          <p:nvPr/>
        </p:nvSpPr>
        <p:spPr>
          <a:xfrm>
            <a:off x="2139696" y="1143000"/>
            <a:ext cx="1481328" cy="1572768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</p:spPr>
        <p:txBody>
          <a:bodyPr spcFirstLastPara="1" wrap="square" lIns="109728" tIns="91440" rIns="91440" bIns="54864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30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Tools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only door to data. Point-in-time, per-agent allow-lists, evidence ids.</a:t>
            </a:r>
          </a:p>
        </p:txBody>
      </p:sp>
      <p:cxnSp>
        <p:nvCxnSpPr>
          <p:cNvPr id="346" name="Layer arrow 2"/>
          <p:cNvCxnSpPr/>
          <p:nvPr/>
        </p:nvCxnSpPr>
        <p:spPr>
          <a:xfrm>
            <a:off x="3639312" y="1929384"/>
            <a:ext cx="2651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</p:cxnSp>
      <p:sp>
        <p:nvSpPr>
          <p:cNvPr id="347" name="Layer 3"/>
          <p:cNvSpPr/>
          <p:nvPr/>
        </p:nvSpPr>
        <p:spPr>
          <a:xfrm>
            <a:off x="3922776" y="1143000"/>
            <a:ext cx="1481328" cy="1572768"/>
          </a:xfrm>
          <a:prstGeom prst="roundRect">
            <a:avLst>
              <a:gd name="adj" fmla="val 6000"/>
            </a:avLst>
          </a:prstGeom>
          <a:solidFill>
            <a:srgbClr val="FEF3E0"/>
          </a:solidFill>
          <a:ln>
            <a:noFill/>
          </a:ln>
        </p:spPr>
        <p:txBody>
          <a:bodyPr spcFirstLastPara="1" wrap="square" lIns="109728" tIns="91440" rIns="91440" bIns="54864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30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Agents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Outlook, Relationship, Portfolio, Reconcilers, Actions, Scenario, Overview.</a:t>
            </a:r>
          </a:p>
        </p:txBody>
      </p:sp>
      <p:cxnSp>
        <p:nvCxnSpPr>
          <p:cNvPr id="348" name="Layer arrow 3"/>
          <p:cNvCxnSpPr/>
          <p:nvPr/>
        </p:nvCxnSpPr>
        <p:spPr>
          <a:xfrm>
            <a:off x="5422392" y="1929384"/>
            <a:ext cx="2651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</p:cxnSp>
      <p:sp>
        <p:nvSpPr>
          <p:cNvPr id="349" name="Layer 4"/>
          <p:cNvSpPr/>
          <p:nvPr/>
        </p:nvSpPr>
        <p:spPr>
          <a:xfrm>
            <a:off x="5705856" y="1143000"/>
            <a:ext cx="1481328" cy="1572768"/>
          </a:xfrm>
          <a:prstGeom prst="roundRect">
            <a:avLst>
              <a:gd name="adj" fmla="val 6000"/>
            </a:avLst>
          </a:prstGeom>
          <a:solidFill>
            <a:srgbClr val="F3E8FD"/>
          </a:solidFill>
          <a:ln>
            <a:noFill/>
          </a:ln>
        </p:spPr>
        <p:txBody>
          <a:bodyPr spcFirstLastPara="1" wrap="square" lIns="109728" tIns="91440" rIns="91440" bIns="54864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30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Output guard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Code deletes claims with no evidence or with unsupported numbers.</a:t>
            </a:r>
          </a:p>
        </p:txBody>
      </p:sp>
      <p:cxnSp>
        <p:nvCxnSpPr>
          <p:cNvPr id="350" name="Layer arrow 4"/>
          <p:cNvCxnSpPr/>
          <p:nvPr/>
        </p:nvCxnSpPr>
        <p:spPr>
          <a:xfrm>
            <a:off x="7205472" y="1929384"/>
            <a:ext cx="2651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</p:cxnSp>
      <p:sp>
        <p:nvSpPr>
          <p:cNvPr id="351" name="Layer 5"/>
          <p:cNvSpPr/>
          <p:nvPr/>
        </p:nvSpPr>
        <p:spPr>
          <a:xfrm>
            <a:off x="7488936" y="1143000"/>
            <a:ext cx="1481328" cy="157276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</p:spPr>
        <p:txBody>
          <a:bodyPr spcFirstLastPara="1" wrap="square" lIns="109728" tIns="91440" rIns="91440" bIns="54864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30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Reports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Database with reports, evidence, actions, overview, scenarios.</a:t>
            </a:r>
          </a:p>
        </p:txBody>
      </p:sp>
      <p:cxnSp>
        <p:nvCxnSpPr>
          <p:cNvPr id="352" name="Reports to API"/>
          <p:cNvCxnSpPr/>
          <p:nvPr/>
        </p:nvCxnSpPr>
        <p:spPr>
          <a:xfrm>
            <a:off x="8229600" y="2734056"/>
            <a:ext cx="0" cy="347472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</p:cxnSp>
      <p:sp>
        <p:nvSpPr>
          <p:cNvPr id="353" name="API"/>
          <p:cNvSpPr/>
          <p:nvPr/>
        </p:nvSpPr>
        <p:spPr>
          <a:xfrm>
            <a:off x="7488936" y="3099816"/>
            <a:ext cx="1481328" cy="9144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</p:spPr>
        <p:txBody>
          <a:bodyPr spcFirstLastPara="1" wrap="square" lIns="109728" tIns="91440" rIns="91440" bIns="54864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25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Read-only API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FastAPI, typed schema</a:t>
            </a:r>
          </a:p>
        </p:txBody>
      </p:sp>
      <p:sp>
        <p:nvSpPr>
          <p:cNvPr id="354" name="Web app"/>
          <p:cNvSpPr/>
          <p:nvPr/>
        </p:nvSpPr>
        <p:spPr>
          <a:xfrm>
            <a:off x="5705856" y="3099816"/>
            <a:ext cx="1481328" cy="914400"/>
          </a:xfrm>
          <a:prstGeom prst="roundRect">
            <a:avLst>
              <a:gd name="adj" fmla="val 6000"/>
            </a:avLst>
          </a:prstGeom>
          <a:solidFill>
            <a:srgbClr val="FEF3E0"/>
          </a:solidFill>
          <a:ln>
            <a:noFill/>
          </a:ln>
        </p:spPr>
        <p:txBody>
          <a:bodyPr spcFirstLastPara="1" wrap="square" lIns="109728" tIns="91440" rIns="91440" bIns="54864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25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RMSignal web app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API driven</a:t>
            </a:r>
          </a:p>
        </p:txBody>
      </p:sp>
      <p:cxnSp>
        <p:nvCxnSpPr>
          <p:cNvPr id="355" name="API to app"/>
          <p:cNvCxnSpPr/>
          <p:nvPr/>
        </p:nvCxnSpPr>
        <p:spPr>
          <a:xfrm flipH="1">
            <a:off x="7205472" y="3557016"/>
            <a:ext cx="2651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</p:cxnSp>
      <p:sp>
        <p:nvSpPr>
          <p:cNvPr id="356" name="RM"/>
          <p:cNvSpPr/>
          <p:nvPr/>
        </p:nvSpPr>
        <p:spPr>
          <a:xfrm>
            <a:off x="3922776" y="3099816"/>
            <a:ext cx="1481328" cy="914400"/>
          </a:xfrm>
          <a:prstGeom prst="roundRect">
            <a:avLst>
              <a:gd name="adj" fmla="val 6000"/>
            </a:avLst>
          </a:prstGeom>
          <a:solidFill>
            <a:srgbClr val="F3E8FD"/>
          </a:solidFill>
          <a:ln>
            <a:noFill/>
          </a:ln>
        </p:spPr>
        <p:txBody>
          <a:bodyPr spcFirstLastPara="1" wrap="square" lIns="109728" tIns="91440" rIns="91440" bIns="54864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25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RM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Reviews and decides</a:t>
            </a:r>
          </a:p>
        </p:txBody>
      </p:sp>
      <p:cxnSp>
        <p:nvCxnSpPr>
          <p:cNvPr id="357" name="App to RM"/>
          <p:cNvCxnSpPr/>
          <p:nvPr/>
        </p:nvCxnSpPr>
        <p:spPr>
          <a:xfrm flipH="1">
            <a:off x="5422392" y="3557016"/>
            <a:ext cx="2651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</p:cxnSp>
      <p:sp>
        <p:nvSpPr>
          <p:cNvPr id="358" name="Governance"/>
          <p:cNvSpPr/>
          <p:nvPr/>
        </p:nvSpPr>
        <p:spPr>
          <a:xfrm>
            <a:off x="356616" y="4178808"/>
            <a:ext cx="8430768" cy="566928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37160" tIns="45720" rIns="137160" bIns="45720" anchor="ctr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Across every layer:  </a:t>
            </a:r>
            <a:r>
              <a:rPr lang="en-GB" sz="10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policy checkpoints (mock engine)  |  audit log of every tool call  |  client names replaced before any model call  |  one fixed date per run, no look-ahead  |  KYC peer over A2A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0" name="Title"/>
          <p:cNvSpPr txBox="1"/>
          <p:nvPr/>
        </p:nvSpPr>
        <p:spPr>
          <a:xfrm>
            <a:off x="265176" y="663854"/>
            <a:ext cx="894283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40" tIns="45720" rIns="91440" bIns="45720" anchor="t" anchorCtr="0">
            <a:noAutofit/>
          </a:bodyPr>
          <a:lstStyle/>
          <a:p>
            <a:pPr marL="0" indent="0" algn="l">
              <a:buNone/>
            </a:pPr>
            <a:r>
              <a:rPr lang="en-GB" sz="1600" dirty="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Technologies to be used in the solution</a:t>
            </a:r>
          </a:p>
        </p:txBody>
      </p:sp>
      <p:sp>
        <p:nvSpPr>
          <p:cNvPr id="360" name="Group AI and agents"/>
          <p:cNvSpPr txBox="1"/>
          <p:nvPr/>
        </p:nvSpPr>
        <p:spPr>
          <a:xfrm>
            <a:off x="356616" y="10972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1" dirty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AI and agents</a:t>
            </a:r>
          </a:p>
        </p:txBody>
      </p:sp>
      <p:sp>
        <p:nvSpPr>
          <p:cNvPr id="361" name="Tech Deep Agents"/>
          <p:cNvSpPr/>
          <p:nvPr/>
        </p:nvSpPr>
        <p:spPr>
          <a:xfrm>
            <a:off x="2093976" y="1078992"/>
            <a:ext cx="1431036" cy="32918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Deep Agents</a:t>
            </a:r>
          </a:p>
        </p:txBody>
      </p:sp>
      <p:sp>
        <p:nvSpPr>
          <p:cNvPr id="362" name="Tech LangGraph"/>
          <p:cNvSpPr/>
          <p:nvPr/>
        </p:nvSpPr>
        <p:spPr>
          <a:xfrm>
            <a:off x="3616452" y="1078992"/>
            <a:ext cx="1220724" cy="32918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LangGraph</a:t>
            </a:r>
          </a:p>
        </p:txBody>
      </p:sp>
      <p:sp>
        <p:nvSpPr>
          <p:cNvPr id="363" name="Tech LangChain"/>
          <p:cNvSpPr/>
          <p:nvPr/>
        </p:nvSpPr>
        <p:spPr>
          <a:xfrm>
            <a:off x="4928616" y="1078992"/>
            <a:ext cx="1220724" cy="32918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LangChain</a:t>
            </a:r>
          </a:p>
        </p:txBody>
      </p:sp>
      <p:sp>
        <p:nvSpPr>
          <p:cNvPr id="364" name="Tech Any OpenAI-compatible model"/>
          <p:cNvSpPr/>
          <p:nvPr/>
        </p:nvSpPr>
        <p:spPr>
          <a:xfrm>
            <a:off x="2093976" y="1499616"/>
            <a:ext cx="3113532" cy="32918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Any OpenAI-compatible model</a:t>
            </a:r>
          </a:p>
        </p:txBody>
      </p:sp>
      <p:sp>
        <p:nvSpPr>
          <p:cNvPr id="365" name="Tech A2A (agent to agent) SDK"/>
          <p:cNvSpPr/>
          <p:nvPr/>
        </p:nvSpPr>
        <p:spPr>
          <a:xfrm>
            <a:off x="5298948" y="1499616"/>
            <a:ext cx="2798064" cy="32918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A2A (agent to agent) SDK</a:t>
            </a:r>
          </a:p>
        </p:txBody>
      </p:sp>
      <p:sp>
        <p:nvSpPr>
          <p:cNvPr id="367" name="Group Data and analytics"/>
          <p:cNvSpPr txBox="1"/>
          <p:nvPr/>
        </p:nvSpPr>
        <p:spPr>
          <a:xfrm>
            <a:off x="356616" y="214884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1" dirty="0">
                <a:solidFill>
                  <a:srgbClr val="18803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 and analytics</a:t>
            </a:r>
          </a:p>
        </p:txBody>
      </p:sp>
      <p:sp>
        <p:nvSpPr>
          <p:cNvPr id="368" name="Tech Python 3.13"/>
          <p:cNvSpPr/>
          <p:nvPr/>
        </p:nvSpPr>
        <p:spPr>
          <a:xfrm>
            <a:off x="2093976" y="2130552"/>
            <a:ext cx="1431036" cy="329184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Python 3.13</a:t>
            </a:r>
          </a:p>
        </p:txBody>
      </p:sp>
      <p:sp>
        <p:nvSpPr>
          <p:cNvPr id="369" name="Tech Polars"/>
          <p:cNvSpPr/>
          <p:nvPr/>
        </p:nvSpPr>
        <p:spPr>
          <a:xfrm>
            <a:off x="3616452" y="2130552"/>
            <a:ext cx="905256" cy="329184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Polars</a:t>
            </a:r>
          </a:p>
        </p:txBody>
      </p:sp>
      <p:sp>
        <p:nvSpPr>
          <p:cNvPr id="374" name="Group Dashboard"/>
          <p:cNvSpPr txBox="1"/>
          <p:nvPr/>
        </p:nvSpPr>
        <p:spPr>
          <a:xfrm>
            <a:off x="356616" y="32004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1" dirty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Dashboard</a:t>
            </a:r>
          </a:p>
        </p:txBody>
      </p:sp>
      <p:sp>
        <p:nvSpPr>
          <p:cNvPr id="375" name="Tech TanStack Start"/>
          <p:cNvSpPr/>
          <p:nvPr/>
        </p:nvSpPr>
        <p:spPr>
          <a:xfrm>
            <a:off x="2093976" y="3182112"/>
            <a:ext cx="1746504" cy="329184"/>
          </a:xfrm>
          <a:prstGeom prst="roundRect">
            <a:avLst>
              <a:gd name="adj" fmla="val 50000"/>
            </a:avLst>
          </a:prstGeom>
          <a:solidFill>
            <a:srgbClr val="FEF3E0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TanStack Start</a:t>
            </a:r>
          </a:p>
        </p:txBody>
      </p:sp>
      <p:sp>
        <p:nvSpPr>
          <p:cNvPr id="376" name="Tech React 19"/>
          <p:cNvSpPr/>
          <p:nvPr/>
        </p:nvSpPr>
        <p:spPr>
          <a:xfrm>
            <a:off x="3931920" y="3182112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FEF3E0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 19</a:t>
            </a:r>
          </a:p>
        </p:txBody>
      </p:sp>
      <p:sp>
        <p:nvSpPr>
          <p:cNvPr id="377" name="Tech TanStack Router"/>
          <p:cNvSpPr/>
          <p:nvPr/>
        </p:nvSpPr>
        <p:spPr>
          <a:xfrm>
            <a:off x="5138928" y="3182112"/>
            <a:ext cx="1851660" cy="329184"/>
          </a:xfrm>
          <a:prstGeom prst="roundRect">
            <a:avLst>
              <a:gd name="adj" fmla="val 50000"/>
            </a:avLst>
          </a:prstGeom>
          <a:solidFill>
            <a:srgbClr val="FEF3E0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TanStack Router</a:t>
            </a:r>
          </a:p>
        </p:txBody>
      </p:sp>
      <p:sp>
        <p:nvSpPr>
          <p:cNvPr id="378" name="Tech TanStack Query"/>
          <p:cNvSpPr/>
          <p:nvPr/>
        </p:nvSpPr>
        <p:spPr>
          <a:xfrm>
            <a:off x="2093976" y="3602736"/>
            <a:ext cx="1746504" cy="329184"/>
          </a:xfrm>
          <a:prstGeom prst="roundRect">
            <a:avLst>
              <a:gd name="adj" fmla="val 50000"/>
            </a:avLst>
          </a:prstGeom>
          <a:solidFill>
            <a:srgbClr val="FEF3E0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TanStack Query</a:t>
            </a:r>
          </a:p>
        </p:txBody>
      </p:sp>
      <p:sp>
        <p:nvSpPr>
          <p:cNvPr id="379" name="Tech TanStack Table"/>
          <p:cNvSpPr/>
          <p:nvPr/>
        </p:nvSpPr>
        <p:spPr>
          <a:xfrm>
            <a:off x="3931920" y="3602736"/>
            <a:ext cx="1746504" cy="329184"/>
          </a:xfrm>
          <a:prstGeom prst="roundRect">
            <a:avLst>
              <a:gd name="adj" fmla="val 50000"/>
            </a:avLst>
          </a:prstGeom>
          <a:solidFill>
            <a:srgbClr val="FEF3E0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TanStack Table</a:t>
            </a:r>
          </a:p>
        </p:txBody>
      </p:sp>
      <p:sp>
        <p:nvSpPr>
          <p:cNvPr id="380" name="Tech TanStack Charts"/>
          <p:cNvSpPr/>
          <p:nvPr/>
        </p:nvSpPr>
        <p:spPr>
          <a:xfrm>
            <a:off x="5769864" y="3602736"/>
            <a:ext cx="1851660" cy="329184"/>
          </a:xfrm>
          <a:prstGeom prst="roundRect">
            <a:avLst>
              <a:gd name="adj" fmla="val 50000"/>
            </a:avLst>
          </a:prstGeom>
          <a:solidFill>
            <a:srgbClr val="FEF3E0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TanStack Charts</a:t>
            </a:r>
          </a:p>
        </p:txBody>
      </p:sp>
      <p:sp>
        <p:nvSpPr>
          <p:cNvPr id="381" name="Tech Tailwind CSS 4"/>
          <p:cNvSpPr/>
          <p:nvPr/>
        </p:nvSpPr>
        <p:spPr>
          <a:xfrm>
            <a:off x="2093976" y="4023360"/>
            <a:ext cx="1746504" cy="329184"/>
          </a:xfrm>
          <a:prstGeom prst="roundRect">
            <a:avLst>
              <a:gd name="adj" fmla="val 50000"/>
            </a:avLst>
          </a:prstGeom>
          <a:solidFill>
            <a:srgbClr val="FEF3E0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Tailwind CSS 4</a:t>
            </a:r>
          </a:p>
        </p:txBody>
      </p:sp>
      <p:sp>
        <p:nvSpPr>
          <p:cNvPr id="382" name="Tech Vite"/>
          <p:cNvSpPr/>
          <p:nvPr/>
        </p:nvSpPr>
        <p:spPr>
          <a:xfrm>
            <a:off x="3931920" y="4023360"/>
            <a:ext cx="694944" cy="329184"/>
          </a:xfrm>
          <a:prstGeom prst="roundRect">
            <a:avLst>
              <a:gd name="adj" fmla="val 50000"/>
            </a:avLst>
          </a:prstGeom>
          <a:solidFill>
            <a:srgbClr val="FEF3E0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Vite</a:t>
            </a:r>
          </a:p>
        </p:txBody>
      </p:sp>
      <p:sp>
        <p:nvSpPr>
          <p:cNvPr id="383" name="Group Quality"/>
          <p:cNvSpPr txBox="1"/>
          <p:nvPr/>
        </p:nvSpPr>
        <p:spPr>
          <a:xfrm>
            <a:off x="356616" y="425196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1" dirty="0">
                <a:solidFill>
                  <a:srgbClr val="7B3FE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Quality</a:t>
            </a:r>
          </a:p>
        </p:txBody>
      </p:sp>
      <p:sp>
        <p:nvSpPr>
          <p:cNvPr id="384" name="Tech pytest"/>
          <p:cNvSpPr/>
          <p:nvPr/>
        </p:nvSpPr>
        <p:spPr>
          <a:xfrm>
            <a:off x="2093976" y="4233672"/>
            <a:ext cx="905256" cy="329184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pytest</a:t>
            </a:r>
          </a:p>
        </p:txBody>
      </p:sp>
      <p:sp>
        <p:nvSpPr>
          <p:cNvPr id="385" name="Tech Hypothesis"/>
          <p:cNvSpPr/>
          <p:nvPr/>
        </p:nvSpPr>
        <p:spPr>
          <a:xfrm>
            <a:off x="3090672" y="4233672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Hypothesis</a:t>
            </a:r>
          </a:p>
        </p:txBody>
      </p:sp>
      <p:sp>
        <p:nvSpPr>
          <p:cNvPr id="386" name="Tech Vitest"/>
          <p:cNvSpPr/>
          <p:nvPr/>
        </p:nvSpPr>
        <p:spPr>
          <a:xfrm>
            <a:off x="4507992" y="4233672"/>
            <a:ext cx="905256" cy="329184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Vitest</a:t>
            </a:r>
          </a:p>
        </p:txBody>
      </p:sp>
      <p:sp>
        <p:nvSpPr>
          <p:cNvPr id="387" name="Tech Biome"/>
          <p:cNvSpPr/>
          <p:nvPr/>
        </p:nvSpPr>
        <p:spPr>
          <a:xfrm>
            <a:off x="5504688" y="4233672"/>
            <a:ext cx="800100" cy="329184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Biome</a:t>
            </a:r>
          </a:p>
        </p:txBody>
      </p:sp>
      <p:sp>
        <p:nvSpPr>
          <p:cNvPr id="388" name="Tech OpenAPI-generated types"/>
          <p:cNvSpPr/>
          <p:nvPr/>
        </p:nvSpPr>
        <p:spPr>
          <a:xfrm>
            <a:off x="2093976" y="4654296"/>
            <a:ext cx="2692908" cy="329184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>
            <a:noFill/>
          </a:ln>
        </p:spPr>
        <p:txBody>
          <a:bodyPr spcFirstLastPara="1" wrap="square" lIns="45720" tIns="0" rIns="45720" bIns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OpenAPI-generated types</a:t>
            </a:r>
          </a:p>
        </p:txBody>
      </p:sp>
      <p:sp>
        <p:nvSpPr>
          <p:cNvPr id="389" name="Model note"/>
          <p:cNvSpPr txBox="1"/>
          <p:nvPr/>
        </p:nvSpPr>
        <p:spPr>
          <a:xfrm>
            <a:off x="356616" y="4434840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-GB" sz="1150" i="1" dirty="0">
              <a:solidFill>
                <a:srgbClr val="5F6368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Title"/>
          <p:cNvSpPr txBox="1"/>
          <p:nvPr/>
        </p:nvSpPr>
        <p:spPr>
          <a:xfrm>
            <a:off x="265176" y="663854"/>
            <a:ext cx="894283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40" tIns="45720" rIns="91440" bIns="45720" anchor="t" anchorCtr="0">
            <a:noAutofit/>
          </a:bodyPr>
          <a:lstStyle/>
          <a:p>
            <a:pPr marL="0" indent="0" algn="l">
              <a:buNone/>
            </a:pPr>
            <a:r>
              <a:rPr lang="en-GB" sz="1600" dirty="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Snapshots of the prototype</a:t>
            </a:r>
          </a:p>
        </p:txBody>
      </p:sp>
      <p:pic>
        <p:nvPicPr>
          <p:cNvPr id="391" name="Overview: who to call first, and why" descr="Overview: who to call first, and why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411480" y="987552"/>
            <a:ext cx="3931920" cy="1728216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  <p:sp>
        <p:nvSpPr>
          <p:cNvPr id="392" name="Caption 1"/>
          <p:cNvSpPr txBox="1"/>
          <p:nvPr/>
        </p:nvSpPr>
        <p:spPr>
          <a:xfrm>
            <a:off x="411480" y="2743200"/>
            <a:ext cx="39319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1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Overview: who to call first, and why</a:t>
            </a:r>
          </a:p>
        </p:txBody>
      </p:sp>
      <p:pic>
        <p:nvPicPr>
          <p:cNvPr id="393" name="Client page: portfolio health at a glance" descr="Client page: portfolio health at a glance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4526280" y="987552"/>
            <a:ext cx="3931920" cy="1728216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  <p:sp>
        <p:nvSpPr>
          <p:cNvPr id="394" name="Caption 2"/>
          <p:cNvSpPr txBox="1"/>
          <p:nvPr/>
        </p:nvSpPr>
        <p:spPr>
          <a:xfrm>
            <a:off x="4526280" y="2743200"/>
            <a:ext cx="39319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1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Client page: portfolio health at a glance</a:t>
            </a:r>
          </a:p>
        </p:txBody>
      </p:sp>
      <p:pic>
        <p:nvPicPr>
          <p:cNvPr id="395" name="RM notes checked against the data" descr="RM notes checked against the data"/>
          <p:cNvPicPr preferRelativeResize="0"/>
          <p:nvPr/>
        </p:nvPicPr>
        <p:blipFill>
          <a:blip r:embed="rId7"/>
          <a:stretch>
            <a:fillRect/>
          </a:stretch>
        </p:blipFill>
        <p:spPr>
          <a:xfrm>
            <a:off x="411480" y="3008376"/>
            <a:ext cx="3931920" cy="1728216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  <p:sp>
        <p:nvSpPr>
          <p:cNvPr id="396" name="Caption 3"/>
          <p:cNvSpPr txBox="1"/>
          <p:nvPr/>
        </p:nvSpPr>
        <p:spPr>
          <a:xfrm>
            <a:off x="411480" y="4764024"/>
            <a:ext cx="39319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1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RM notes checked against the data</a:t>
            </a:r>
          </a:p>
        </p:txBody>
      </p:sp>
      <p:pic>
        <p:nvPicPr>
          <p:cNvPr id="397" name="Scenarios: worst, likely and best case" descr="Scenarios: worst, likely and best case"/>
          <p:cNvPicPr preferRelativeResize="0"/>
          <p:nvPr/>
        </p:nvPicPr>
        <p:blipFill>
          <a:blip r:embed="rId8"/>
          <a:stretch>
            <a:fillRect/>
          </a:stretch>
        </p:blipFill>
        <p:spPr>
          <a:xfrm>
            <a:off x="4526280" y="3008376"/>
            <a:ext cx="3931920" cy="1728216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  <p:sp>
        <p:nvSpPr>
          <p:cNvPr id="398" name="Caption 4"/>
          <p:cNvSpPr txBox="1"/>
          <p:nvPr/>
        </p:nvSpPr>
        <p:spPr>
          <a:xfrm>
            <a:off x="4526280" y="4764024"/>
            <a:ext cx="39319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1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Scenarios: worst, likely and best case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Title"/>
          <p:cNvSpPr txBox="1"/>
          <p:nvPr/>
        </p:nvSpPr>
        <p:spPr>
          <a:xfrm>
            <a:off x="265176" y="663854"/>
            <a:ext cx="894283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40" tIns="45720" rIns="91440" bIns="45720" anchor="t" anchorCtr="0">
            <a:noAutofit/>
          </a:bodyPr>
          <a:lstStyle/>
          <a:p>
            <a:pPr marL="0" indent="0" algn="l">
              <a:buNone/>
            </a:pPr>
            <a:r>
              <a:rPr lang="en-GB" sz="1600" dirty="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Prototype Performance report/Benchmarking</a:t>
            </a:r>
          </a:p>
        </p:txBody>
      </p:sp>
      <p:sp>
        <p:nvSpPr>
          <p:cNvPr id="400" name="Tile 1"/>
          <p:cNvSpPr/>
          <p:nvPr/>
        </p:nvSpPr>
        <p:spPr>
          <a:xfrm>
            <a:off x="356616" y="1097280"/>
            <a:ext cx="2697480" cy="109728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82880" tIns="54864" rIns="109728" bIns="54864" anchor="ctr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2600" b="1" dirty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846+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backend tests pass</a:t>
            </a:r>
          </a:p>
        </p:txBody>
      </p:sp>
      <p:sp>
        <p:nvSpPr>
          <p:cNvPr id="401" name="Tile 2"/>
          <p:cNvSpPr/>
          <p:nvPr/>
        </p:nvSpPr>
        <p:spPr>
          <a:xfrm>
            <a:off x="3218688" y="1097280"/>
            <a:ext cx="2697480" cy="109728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82880" tIns="54864" rIns="109728" bIns="54864" anchor="ctr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2600" b="1" dirty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100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dashboard tests pass (27 files)</a:t>
            </a:r>
          </a:p>
        </p:txBody>
      </p:sp>
      <p:sp>
        <p:nvSpPr>
          <p:cNvPr id="402" name="Tile 3"/>
          <p:cNvSpPr/>
          <p:nvPr/>
        </p:nvSpPr>
        <p:spPr>
          <a:xfrm>
            <a:off x="6080760" y="1097280"/>
            <a:ext cx="2697480" cy="109728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82880" tIns="54864" rIns="109728" bIns="54864" anchor="ctr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2600" b="1" dirty="0">
                <a:solidFill>
                  <a:srgbClr val="18803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20 of 20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clients analysed in one run</a:t>
            </a:r>
          </a:p>
        </p:txBody>
      </p:sp>
      <p:sp>
        <p:nvSpPr>
          <p:cNvPr id="403" name="Tile 4"/>
          <p:cNvSpPr/>
          <p:nvPr/>
        </p:nvSpPr>
        <p:spPr>
          <a:xfrm>
            <a:off x="356616" y="2359152"/>
            <a:ext cx="2697480" cy="109728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82880" tIns="54864" rIns="109728" bIns="54864" anchor="ctr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2600" b="1" dirty="0">
                <a:solidFill>
                  <a:srgbClr val="18803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161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model calls in that run, 0 failed</a:t>
            </a:r>
          </a:p>
        </p:txBody>
      </p:sp>
      <p:sp>
        <p:nvSpPr>
          <p:cNvPr id="404" name="Tile 5"/>
          <p:cNvSpPr/>
          <p:nvPr/>
        </p:nvSpPr>
        <p:spPr>
          <a:xfrm>
            <a:off x="3218688" y="2359152"/>
            <a:ext cx="2697480" cy="109728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82880" tIns="54864" rIns="109728" bIns="54864" anchor="ctr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2600" b="1" dirty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 min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analyse the whole book, 4 clients at a time</a:t>
            </a:r>
          </a:p>
        </p:txBody>
      </p:sp>
      <p:sp>
        <p:nvSpPr>
          <p:cNvPr id="405" name="Tile 6"/>
          <p:cNvSpPr/>
          <p:nvPr/>
        </p:nvSpPr>
        <p:spPr>
          <a:xfrm>
            <a:off x="6080760" y="2359152"/>
            <a:ext cx="2697480" cy="109728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82880" tIns="54864" rIns="109728" bIns="54864" anchor="ctr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2600" b="1" dirty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2.2m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tokens used for the full analysis</a:t>
            </a:r>
          </a:p>
        </p:txBody>
      </p:sp>
      <p:sp>
        <p:nvSpPr>
          <p:cNvPr id="406" name="Honest notes"/>
          <p:cNvSpPr txBox="1"/>
          <p:nvPr/>
        </p:nvSpPr>
        <p:spPr>
          <a:xfrm>
            <a:off x="356616" y="3611880"/>
            <a:ext cx="8412480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30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these numbers mean</a:t>
            </a: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SzPts val="1150"/>
              <a:buFont typeface="Google Sans Flex"/>
              <a:buChar char="●"/>
            </a:pPr>
            <a:r>
              <a:rPr lang="en-GB" sz="11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Reports are repeatable: the same date and inputs give the same result, and unchanged outlooks cost no model call.</a:t>
            </a: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SzPts val="1150"/>
              <a:buFont typeface="Google Sans Flex"/>
              <a:buChar char="●"/>
            </a:pPr>
            <a:r>
              <a:rPr lang="en-GB" sz="11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All 20 client reports are marked partial on purpose. The dataset has no related persons, and the report says so.</a:t>
            </a: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SzPts val="1150"/>
              <a:buFont typeface="Google Sans Flex"/>
              <a:buChar char="●"/>
            </a:pPr>
            <a:r>
              <a:rPr lang="en-GB" sz="11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guard works live: on the client page, a finding was removed because a figure was not in its evidence.</a:t>
            </a: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SzPts val="1150"/>
              <a:buFont typeface="Google Sans Flex"/>
              <a:buChar char="●"/>
            </a:pPr>
            <a:r>
              <a:rPr lang="en-GB" sz="115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This is a prototype run on 20 synthetic clients, not a production load test.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Title"/>
          <p:cNvSpPr txBox="1"/>
          <p:nvPr/>
        </p:nvSpPr>
        <p:spPr>
          <a:xfrm>
            <a:off x="265176" y="663854"/>
            <a:ext cx="894283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40" tIns="45720" rIns="91440" bIns="45720" anchor="t" anchorCtr="0">
            <a:noAutofit/>
          </a:bodyPr>
          <a:lstStyle/>
          <a:p>
            <a:pPr marL="0" indent="0" algn="l">
              <a:buNone/>
            </a:pPr>
            <a:r>
              <a:rPr lang="en-GB" sz="1600" dirty="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Additional Details/Future Development (if any)</a:t>
            </a:r>
          </a:p>
        </p:txBody>
      </p:sp>
      <p:sp>
        <p:nvSpPr>
          <p:cNvPr id="408" name="Also built"/>
          <p:cNvSpPr/>
          <p:nvPr/>
        </p:nvSpPr>
        <p:spPr>
          <a:xfrm>
            <a:off x="356616" y="1097280"/>
            <a:ext cx="4160520" cy="36576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64592" tIns="128016" rIns="146304" bIns="9144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400" b="1" dirty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Also built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Interactive analyst sessions for follow-up questions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Agent-to-agent (A2A) cards and servers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model-call log with counts and timing, never content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Point-in-time engine: no data after the chosen date is ever used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Call sheet per portfolio: seven questions an RM is asked in a meeting</a:t>
            </a:r>
          </a:p>
        </p:txBody>
      </p:sp>
      <p:sp>
        <p:nvSpPr>
          <p:cNvPr id="409" name="Next"/>
          <p:cNvSpPr/>
          <p:nvPr/>
        </p:nvSpPr>
        <p:spPr>
          <a:xfrm>
            <a:off x="4700016" y="1097280"/>
            <a:ext cx="4087368" cy="36576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64592" tIns="128016" rIns="146304" bIns="9144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400" b="1" dirty="0">
                <a:solidFill>
                  <a:srgbClr val="18803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 steps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Connect the bank's real policy engine and KYC system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Add related persons and beneficial owners when data exists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Add an external news feed behind the same tool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Add tax-aware ideas and life-event planning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Let the RM accept, reject or edit each action</a:t>
            </a:r>
          </a:p>
          <a:p>
            <a:pPr marL="171450" indent="-171450" algn="l">
              <a:spcBef>
                <a:spcPts val="0"/>
              </a:spcBef>
              <a:spcAft>
                <a:spcPts val="500"/>
              </a:spcAft>
              <a:buSzPts val="1200"/>
              <a:buFont typeface="Google Sans Flex"/>
              <a:buChar char="●"/>
            </a:pPr>
            <a:r>
              <a:rPr lang="en-GB" sz="1200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Add sign-in and per-RM access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Title"/>
          <p:cNvSpPr txBox="1"/>
          <p:nvPr/>
        </p:nvSpPr>
        <p:spPr>
          <a:xfrm>
            <a:off x="265176" y="663854"/>
            <a:ext cx="894283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40" tIns="45720" rIns="91440" bIns="45720" anchor="t" anchorCtr="0">
            <a:noAutofit/>
          </a:bodyPr>
          <a:lstStyle/>
          <a:p>
            <a:pPr marL="0" indent="0" algn="l">
              <a:buNone/>
            </a:pPr>
            <a:r>
              <a:rPr lang="en-GB" sz="1600" dirty="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Provide links to your:</a:t>
            </a:r>
          </a:p>
        </p:txBody>
      </p:sp>
      <p:sp>
        <p:nvSpPr>
          <p:cNvPr id="411" name="Link 1"/>
          <p:cNvSpPr/>
          <p:nvPr/>
        </p:nvSpPr>
        <p:spPr>
          <a:xfrm>
            <a:off x="356616" y="1188720"/>
            <a:ext cx="8430768" cy="86868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228600" tIns="73152" rIns="182880" bIns="73152" anchor="ctr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GitHub Public Repository</a:t>
            </a:r>
          </a:p>
          <a:p>
            <a:r>
              <a:rPr lang="en-GB" sz="1200" i="1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5"/>
              </a:rPr>
              <a:t>https://</a:t>
            </a:r>
            <a:r>
              <a:rPr lang="en-GB" sz="1200" i="1" dirty="0" err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5"/>
              </a:rPr>
              <a:t>github.com</a:t>
            </a:r>
            <a:r>
              <a:rPr lang="en-GB" sz="1200" i="1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5"/>
              </a:rPr>
              <a:t>/</a:t>
            </a:r>
            <a:r>
              <a:rPr lang="en-GB" sz="1200" i="1" dirty="0" err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5"/>
              </a:rPr>
              <a:t>webmobix</a:t>
            </a:r>
            <a:r>
              <a:rPr lang="en-GB" sz="1200" i="1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5"/>
              </a:rPr>
              <a:t>/</a:t>
            </a:r>
            <a:r>
              <a:rPr lang="en-GB" sz="1200" i="1" dirty="0" err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5"/>
              </a:rPr>
              <a:t>rmsignal</a:t>
            </a:r>
            <a:endParaRPr lang="en-GB" sz="1200" i="1" dirty="0">
              <a:solidFill>
                <a:srgbClr val="5F6368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412" name="Link 2"/>
          <p:cNvSpPr/>
          <p:nvPr/>
        </p:nvSpPr>
        <p:spPr>
          <a:xfrm>
            <a:off x="356616" y="2240280"/>
            <a:ext cx="8430768" cy="86868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228600" tIns="73152" rIns="182880" bIns="73152" anchor="ctr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Video Link (3 Minutes)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i="1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link before submitting]</a:t>
            </a:r>
          </a:p>
        </p:txBody>
      </p:sp>
      <p:sp>
        <p:nvSpPr>
          <p:cNvPr id="413" name="Link 3"/>
          <p:cNvSpPr/>
          <p:nvPr/>
        </p:nvSpPr>
        <p:spPr>
          <a:xfrm>
            <a:off x="356616" y="3291840"/>
            <a:ext cx="8430768" cy="86868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228600" tIns="73152" rIns="182880" bIns="73152" anchor="ctr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Final Product Link</a:t>
            </a:r>
          </a:p>
          <a:p>
            <a:r>
              <a:rPr lang="en-GB" sz="1200" i="1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6"/>
              </a:rPr>
              <a:t>https://rm-dashboard-spa-820913152799.asia-southeast3.run.app/</a:t>
            </a:r>
            <a:endParaRPr lang="en-GB" sz="1200" i="1" dirty="0">
              <a:solidFill>
                <a:srgbClr val="5F6368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1126</Words>
  <Application>Microsoft Macintosh PowerPoint</Application>
  <PresentationFormat>On-screen Show (16:9)</PresentationFormat>
  <Paragraphs>157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Google Sans Flex Medium</vt:lpstr>
      <vt:lpstr>Google Sans Flex</vt:lpstr>
      <vt:lpstr>Google Sans Flex SemiBold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Danny Thuering</cp:lastModifiedBy>
  <cp:revision>2</cp:revision>
  <dcterms:modified xsi:type="dcterms:W3CDTF">2026-10-18T15:38:19Z</dcterms:modified>
</cp:coreProperties>
</file>